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8288000" cy="10287000"/>
  <p:notesSz cx="6858000" cy="9144000"/>
  <p:embeddedFontLst>
    <p:embeddedFont>
      <p:font typeface="Arial Bold" panose="020B0704020202020204" pitchFamily="34" charset="0"/>
      <p:bold r:id="rId11"/>
    </p:embeddedFon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Koho" panose="020B0604020202020204" charset="-34"/>
      <p:regular r:id="rId14"/>
    </p:embeddedFont>
    <p:embeddedFont>
      <p:font typeface="Koho Bold" panose="020B0604020202020204" charset="-34"/>
      <p:regular r:id="rId15"/>
    </p:embeddedFont>
    <p:embeddedFont>
      <p:font typeface="Neo Tech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91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Worksheet.xlsx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14600" y="-85963"/>
            <a:ext cx="15773400" cy="1988344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1031200" cy="2613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66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Smart Multi-Mode Robotic Car 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31820" y="1961055"/>
            <a:ext cx="12824460" cy="250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Aim</a:t>
            </a:r>
          </a:p>
          <a:p>
            <a:pPr marL="651510" lvl="1" indent="-325755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To design and develop a smart robotic car capable of:</a:t>
            </a:r>
          </a:p>
          <a:p>
            <a:pPr marL="651510" lvl="1" indent="-325755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Line Following </a:t>
            </a:r>
          </a:p>
          <a:p>
            <a:pPr marL="651510" lvl="1" indent="-325755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Remote Control Operation </a:t>
            </a:r>
          </a:p>
          <a:p>
            <a:pPr marL="651510" lvl="1" indent="-325755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Obstacle Detection and Avoidance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57300" y="9534525"/>
            <a:ext cx="4114800" cy="547688"/>
            <a:chOff x="0" y="0"/>
            <a:chExt cx="5486400" cy="7302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24-04-2026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57900" y="9534525"/>
            <a:ext cx="6172200" cy="547688"/>
            <a:chOff x="0" y="0"/>
            <a:chExt cx="8229600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9587" b="-169587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Dept. of E&amp;TC, DYPCOE, Akurdi, Pune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-95338" y="-42982"/>
            <a:ext cx="19278777" cy="10372963"/>
          </a:xfrm>
          <a:custGeom>
            <a:avLst/>
            <a:gdLst/>
            <a:ahLst/>
            <a:cxnLst/>
            <a:rect l="l" t="t" r="r" b="b"/>
            <a:pathLst>
              <a:path w="19278777" h="10372963">
                <a:moveTo>
                  <a:pt x="0" y="0"/>
                </a:moveTo>
                <a:lnTo>
                  <a:pt x="19278776" y="0"/>
                </a:lnTo>
                <a:lnTo>
                  <a:pt x="19278776" y="10372964"/>
                </a:lnTo>
                <a:lnTo>
                  <a:pt x="0" y="10372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t="-48729" b="-37126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22300" y="5119688"/>
            <a:ext cx="8540799" cy="496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7"/>
              </a:lnSpc>
            </a:pPr>
            <a:r>
              <a:rPr lang="en-US" sz="3564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Objectives</a:t>
            </a:r>
          </a:p>
          <a:p>
            <a:pPr marL="645057" lvl="1" indent="-322529" algn="l">
              <a:lnSpc>
                <a:spcPts val="4277"/>
              </a:lnSpc>
              <a:buFont typeface="Arial"/>
              <a:buChar char="•"/>
            </a:pPr>
            <a:r>
              <a:rPr lang="en-US" sz="356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To automate path tracking using IR sensors </a:t>
            </a:r>
          </a:p>
          <a:p>
            <a:pPr marL="645057" lvl="1" indent="-322529" algn="l">
              <a:lnSpc>
                <a:spcPts val="4277"/>
              </a:lnSpc>
              <a:buFont typeface="Arial"/>
              <a:buChar char="•"/>
            </a:pPr>
            <a:r>
              <a:rPr lang="en-US" sz="356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To control the vehicle wirelessly using Bluetooth </a:t>
            </a:r>
          </a:p>
          <a:p>
            <a:pPr marL="645057" lvl="1" indent="-322529" algn="l">
              <a:lnSpc>
                <a:spcPts val="4277"/>
              </a:lnSpc>
              <a:buFont typeface="Arial"/>
              <a:buChar char="•"/>
            </a:pPr>
            <a:r>
              <a:rPr lang="en-US" sz="356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To detect obstacles using Ultrasonic Sensor </a:t>
            </a:r>
          </a:p>
          <a:p>
            <a:pPr marL="645057" lvl="1" indent="-322529" algn="l">
              <a:lnSpc>
                <a:spcPts val="4277"/>
              </a:lnSpc>
              <a:buFont typeface="Arial"/>
              <a:buChar char="•"/>
            </a:pPr>
            <a:r>
              <a:rPr lang="en-US" sz="356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To improve mobility and automation efficiency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5084" y="5381625"/>
            <a:ext cx="7021867" cy="415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386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Aim</a:t>
            </a:r>
          </a:p>
          <a:p>
            <a:pPr marL="834704" lvl="1" indent="-417352" algn="l">
              <a:lnSpc>
                <a:spcPts val="4639"/>
              </a:lnSpc>
              <a:buFont typeface="Arial"/>
              <a:buChar char="•"/>
            </a:pPr>
            <a:r>
              <a:rPr lang="en-US" sz="386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To design and develop a smart robotic car capable of:</a:t>
            </a:r>
          </a:p>
          <a:p>
            <a:pPr marL="834704" lvl="1" indent="-417352" algn="l">
              <a:lnSpc>
                <a:spcPts val="4639"/>
              </a:lnSpc>
              <a:buFont typeface="Arial"/>
              <a:buChar char="•"/>
            </a:pPr>
            <a:r>
              <a:rPr lang="en-US" sz="386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Line Following </a:t>
            </a:r>
          </a:p>
          <a:p>
            <a:pPr marL="834704" lvl="1" indent="-417352" algn="l">
              <a:lnSpc>
                <a:spcPts val="4639"/>
              </a:lnSpc>
              <a:buFont typeface="Arial"/>
              <a:buChar char="•"/>
            </a:pPr>
            <a:r>
              <a:rPr lang="en-US" sz="386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Remote Control Operation </a:t>
            </a:r>
          </a:p>
          <a:p>
            <a:pPr marL="834704" lvl="1" indent="-417352" algn="l">
              <a:lnSpc>
                <a:spcPts val="4639"/>
              </a:lnSpc>
              <a:buFont typeface="Arial"/>
              <a:buChar char="•"/>
            </a:pPr>
            <a:r>
              <a:rPr lang="en-US" sz="386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Obstacle Detection and Avoidance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0" y="717709"/>
            <a:ext cx="16191755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55"/>
              </a:lnSpc>
              <a:spcBef>
                <a:spcPct val="0"/>
              </a:spcBef>
            </a:pPr>
            <a:r>
              <a:rPr lang="en-US" sz="929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Smart Multi-Mode Robotic Car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9534525"/>
            <a:ext cx="4114800" cy="547688"/>
            <a:chOff x="0" y="0"/>
            <a:chExt cx="5486400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24-04-2026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057900" y="9534525"/>
            <a:ext cx="6172200" cy="547688"/>
            <a:chOff x="0" y="0"/>
            <a:chExt cx="822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9587" b="-16958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Dept. of E&amp;TC, DYPCOE, Akurdi, Pune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06540" y="0"/>
            <a:ext cx="3934254" cy="2077488"/>
            <a:chOff x="0" y="0"/>
            <a:chExt cx="5245672" cy="27699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45668" cy="2769990"/>
            </a:xfrm>
            <a:custGeom>
              <a:avLst/>
              <a:gdLst/>
              <a:ahLst/>
              <a:cxnLst/>
              <a:rect l="l" t="t" r="r" b="b"/>
              <a:pathLst>
                <a:path w="5245668" h="2769990">
                  <a:moveTo>
                    <a:pt x="0" y="0"/>
                  </a:moveTo>
                  <a:lnTo>
                    <a:pt x="5245668" y="0"/>
                  </a:lnTo>
                  <a:lnTo>
                    <a:pt x="5245668" y="2769990"/>
                  </a:lnTo>
                  <a:lnTo>
                    <a:pt x="0" y="27699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750" r="-1775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245672" cy="27890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endParaRPr/>
            </a:p>
            <a:p>
              <a:pPr algn="l">
                <a:lnSpc>
                  <a:spcPts val="5040"/>
                </a:lnSpc>
              </a:pPr>
              <a:endParaRPr/>
            </a:p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Specifications</a:t>
              </a:r>
            </a:p>
            <a:p>
              <a:pPr algn="l">
                <a:lnSpc>
                  <a:spcPts val="5040"/>
                </a:lnSpc>
              </a:pPr>
              <a:endParaRPr lang="en-US" sz="42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>
            <a:off x="0" y="-16322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t="-33840" b="-43937"/>
            </a:stretch>
          </a:blipFill>
        </p:spPr>
      </p:sp>
      <p:graphicFrame>
        <p:nvGraphicFramePr>
          <p:cNvPr id="15" name="Object 15"/>
          <p:cNvGraphicFramePr/>
          <p:nvPr>
            <p:extLst>
              <p:ext uri="{D42A27DB-BD31-4B8C-83A1-F6EECF244321}">
                <p14:modId xmlns:p14="http://schemas.microsoft.com/office/powerpoint/2010/main" val="4232546716"/>
              </p:ext>
            </p:extLst>
          </p:nvPr>
        </p:nvGraphicFramePr>
        <p:xfrm>
          <a:off x="1295400" y="3307083"/>
          <a:ext cx="15446375" cy="479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6202040" imgH="7010400" progId="Excel.Sheet.12">
                  <p:embed/>
                </p:oleObj>
              </mc:Choice>
              <mc:Fallback>
                <p:oleObj name="Worksheet" r:id="rId4" imgW="16202040" imgH="7010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95400" y="3307083"/>
                        <a:ext cx="15446375" cy="4795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6"/>
          <p:cNvSpPr txBox="1"/>
          <p:nvPr/>
        </p:nvSpPr>
        <p:spPr>
          <a:xfrm>
            <a:off x="775687" y="467763"/>
            <a:ext cx="6773228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26"/>
              </a:lnSpc>
              <a:spcBef>
                <a:spcPct val="0"/>
              </a:spcBef>
            </a:pPr>
            <a:r>
              <a:rPr lang="en-US" sz="9355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Specificatios</a:t>
            </a:r>
            <a:endParaRPr lang="en-US" sz="9355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6673" y="790854"/>
            <a:ext cx="10894849" cy="1245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49"/>
              </a:lnSpc>
            </a:pPr>
            <a:r>
              <a:rPr lang="en-US" sz="7500" b="1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BLOCK DIAGRAM</a:t>
            </a:r>
          </a:p>
        </p:txBody>
      </p:sp>
      <p:sp>
        <p:nvSpPr>
          <p:cNvPr id="3" name="Freeform 3"/>
          <p:cNvSpPr/>
          <p:nvPr/>
        </p:nvSpPr>
        <p:spPr>
          <a:xfrm rot="-7720815">
            <a:off x="-5386022" y="5635688"/>
            <a:ext cx="13836366" cy="7245224"/>
          </a:xfrm>
          <a:custGeom>
            <a:avLst/>
            <a:gdLst/>
            <a:ahLst/>
            <a:cxnLst/>
            <a:rect l="l" t="t" r="r" b="b"/>
            <a:pathLst>
              <a:path w="13836366" h="7245224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367064" flipH="1">
            <a:off x="10341117" y="-1585888"/>
            <a:ext cx="13836366" cy="7245224"/>
          </a:xfrm>
          <a:custGeom>
            <a:avLst/>
            <a:gdLst/>
            <a:ahLst/>
            <a:cxnLst/>
            <a:rect l="l" t="t" r="r" b="b"/>
            <a:pathLst>
              <a:path w="13836366" h="7245224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778730" y="2229682"/>
            <a:ext cx="10529764" cy="7028618"/>
          </a:xfrm>
          <a:custGeom>
            <a:avLst/>
            <a:gdLst/>
            <a:ahLst/>
            <a:cxnLst/>
            <a:rect l="l" t="t" r="r" b="b"/>
            <a:pathLst>
              <a:path w="10529764" h="7028618">
                <a:moveTo>
                  <a:pt x="0" y="0"/>
                </a:moveTo>
                <a:lnTo>
                  <a:pt x="10529764" y="0"/>
                </a:lnTo>
                <a:lnTo>
                  <a:pt x="10529764" y="7028618"/>
                </a:lnTo>
                <a:lnTo>
                  <a:pt x="0" y="7028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6673" y="790854"/>
            <a:ext cx="10894849" cy="1245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49"/>
              </a:lnSpc>
            </a:pPr>
            <a:r>
              <a:rPr lang="en-US" sz="7500" b="1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CIRCUIT DIAGRAM</a:t>
            </a:r>
          </a:p>
        </p:txBody>
      </p:sp>
      <p:sp>
        <p:nvSpPr>
          <p:cNvPr id="3" name="Freeform 3"/>
          <p:cNvSpPr/>
          <p:nvPr/>
        </p:nvSpPr>
        <p:spPr>
          <a:xfrm rot="-7720815">
            <a:off x="-5386022" y="5635688"/>
            <a:ext cx="13836366" cy="7245224"/>
          </a:xfrm>
          <a:custGeom>
            <a:avLst/>
            <a:gdLst/>
            <a:ahLst/>
            <a:cxnLst/>
            <a:rect l="l" t="t" r="r" b="b"/>
            <a:pathLst>
              <a:path w="13836366" h="7245224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367064" flipH="1">
            <a:off x="10341117" y="-1585888"/>
            <a:ext cx="13836366" cy="7245224"/>
          </a:xfrm>
          <a:custGeom>
            <a:avLst/>
            <a:gdLst/>
            <a:ahLst/>
            <a:cxnLst/>
            <a:rect l="l" t="t" r="r" b="b"/>
            <a:pathLst>
              <a:path w="13836366" h="7245224">
                <a:moveTo>
                  <a:pt x="13836366" y="0"/>
                </a:moveTo>
                <a:lnTo>
                  <a:pt x="0" y="0"/>
                </a:lnTo>
                <a:lnTo>
                  <a:pt x="0" y="7245225"/>
                </a:lnTo>
                <a:lnTo>
                  <a:pt x="13836366" y="7245225"/>
                </a:lnTo>
                <a:lnTo>
                  <a:pt x="13836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163511" y="2036724"/>
            <a:ext cx="11886146" cy="7919145"/>
          </a:xfrm>
          <a:custGeom>
            <a:avLst/>
            <a:gdLst/>
            <a:ahLst/>
            <a:cxnLst/>
            <a:rect l="l" t="t" r="r" b="b"/>
            <a:pathLst>
              <a:path w="11886146" h="7919145">
                <a:moveTo>
                  <a:pt x="0" y="0"/>
                </a:moveTo>
                <a:lnTo>
                  <a:pt x="11886147" y="0"/>
                </a:lnTo>
                <a:lnTo>
                  <a:pt x="11886147" y="7919145"/>
                </a:lnTo>
                <a:lnTo>
                  <a:pt x="0" y="7919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4240" y="19050"/>
            <a:ext cx="18346615" cy="10287000"/>
          </a:xfrm>
          <a:custGeom>
            <a:avLst/>
            <a:gdLst/>
            <a:ahLst/>
            <a:cxnLst/>
            <a:rect l="l" t="t" r="r" b="b"/>
            <a:pathLst>
              <a:path w="18346615" h="10287000">
                <a:moveTo>
                  <a:pt x="0" y="0"/>
                </a:moveTo>
                <a:lnTo>
                  <a:pt x="18346616" y="0"/>
                </a:lnTo>
                <a:lnTo>
                  <a:pt x="183466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95400" y="3314700"/>
            <a:ext cx="12620709" cy="6474551"/>
            <a:chOff x="0" y="0"/>
            <a:chExt cx="3323973" cy="17052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23973" cy="1705232"/>
            </a:xfrm>
            <a:custGeom>
              <a:avLst/>
              <a:gdLst/>
              <a:ahLst/>
              <a:cxnLst/>
              <a:rect l="l" t="t" r="r" b="b"/>
              <a:pathLst>
                <a:path w="3323973" h="1705232">
                  <a:moveTo>
                    <a:pt x="31285" y="0"/>
                  </a:moveTo>
                  <a:lnTo>
                    <a:pt x="3292688" y="0"/>
                  </a:lnTo>
                  <a:cubicBezTo>
                    <a:pt x="3300985" y="0"/>
                    <a:pt x="3308943" y="3296"/>
                    <a:pt x="3314810" y="9163"/>
                  </a:cubicBezTo>
                  <a:cubicBezTo>
                    <a:pt x="3320677" y="15030"/>
                    <a:pt x="3323973" y="22988"/>
                    <a:pt x="3323973" y="31285"/>
                  </a:cubicBezTo>
                  <a:lnTo>
                    <a:pt x="3323973" y="1673947"/>
                  </a:lnTo>
                  <a:cubicBezTo>
                    <a:pt x="3323973" y="1691225"/>
                    <a:pt x="3309966" y="1705232"/>
                    <a:pt x="3292688" y="1705232"/>
                  </a:cubicBezTo>
                  <a:lnTo>
                    <a:pt x="31285" y="1705232"/>
                  </a:lnTo>
                  <a:cubicBezTo>
                    <a:pt x="14007" y="1705232"/>
                    <a:pt x="0" y="1691225"/>
                    <a:pt x="0" y="1673947"/>
                  </a:cubicBezTo>
                  <a:lnTo>
                    <a:pt x="0" y="31285"/>
                  </a:lnTo>
                  <a:cubicBezTo>
                    <a:pt x="0" y="14007"/>
                    <a:pt x="14007" y="0"/>
                    <a:pt x="31285" y="0"/>
                  </a:cubicBezTo>
                  <a:close/>
                </a:path>
              </a:pathLst>
            </a:custGeom>
            <a:solidFill>
              <a:srgbClr val="898989">
                <a:alpha val="7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323973" cy="17433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02675" y="713003"/>
            <a:ext cx="8420234" cy="1546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37"/>
              </a:lnSpc>
              <a:spcBef>
                <a:spcPct val="0"/>
              </a:spcBef>
            </a:pPr>
            <a:r>
              <a:rPr lang="en-US" sz="9031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Working Principle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90800" y="3620426"/>
            <a:ext cx="12093176" cy="661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094" lvl="1" indent="-377547">
              <a:lnSpc>
                <a:spcPts val="4196"/>
              </a:lnSpc>
              <a:buFont typeface="Arial"/>
              <a:buChar char="•"/>
            </a:pPr>
            <a:r>
              <a:rPr lang="en-US" sz="4400" dirty="0">
                <a:latin typeface="Calibri (MS)"/>
                <a:ea typeface="Calibri (MS)"/>
                <a:cs typeface="Calibri (MS)"/>
                <a:sym typeface="Calibri (MS)"/>
              </a:rPr>
              <a:t>Remote Control Mode</a:t>
            </a:r>
          </a:p>
          <a:p>
            <a:pPr marL="755094" lvl="1" indent="-377547">
              <a:lnSpc>
                <a:spcPts val="4196"/>
              </a:lnSpc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User sends commands through mobile Bluetooth app </a:t>
            </a:r>
          </a:p>
          <a:p>
            <a:pPr marL="755094" lvl="1" indent="-377547">
              <a:lnSpc>
                <a:spcPts val="4196"/>
              </a:lnSpc>
              <a:buFont typeface="Arial"/>
              <a:buChar char="•"/>
            </a:pPr>
            <a:r>
              <a:rPr lang="en-US" sz="3200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Arduino</a:t>
            </a:r>
            <a:r>
              <a:rPr lang="en-US" sz="32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receives signals and controls movement </a:t>
            </a:r>
          </a:p>
          <a:p>
            <a:pPr marL="866136" lvl="1" indent="-433068">
              <a:lnSpc>
                <a:spcPts val="4814"/>
              </a:lnSpc>
              <a:buFont typeface="Arial"/>
              <a:buChar char="•"/>
            </a:pPr>
            <a:r>
              <a:rPr lang="en-US" sz="4400" dirty="0">
                <a:latin typeface="Calibri (MS)"/>
                <a:ea typeface="Calibri (MS)"/>
                <a:cs typeface="Calibri (MS)"/>
                <a:sym typeface="Calibri (MS)"/>
              </a:rPr>
              <a:t>Obstacle Avoidance Mode</a:t>
            </a:r>
            <a:r>
              <a:rPr lang="en-US" sz="4400" b="1" dirty="0"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marL="755094" lvl="1" indent="-377547">
              <a:lnSpc>
                <a:spcPts val="4196"/>
              </a:lnSpc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Ultrasonic sensor measures obstacle distance </a:t>
            </a:r>
          </a:p>
          <a:p>
            <a:pPr marL="755094" lvl="1" indent="-377547">
              <a:lnSpc>
                <a:spcPts val="4196"/>
              </a:lnSpc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If object detected, car stops or changes direction</a:t>
            </a:r>
          </a:p>
          <a:p>
            <a:pPr marL="866136" lvl="1" indent="-433068">
              <a:lnSpc>
                <a:spcPts val="4814"/>
              </a:lnSpc>
              <a:buFont typeface="Arial"/>
              <a:buChar char="•"/>
            </a:pPr>
            <a:r>
              <a:rPr lang="en-US" sz="3200" b="1" dirty="0"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 </a:t>
            </a:r>
            <a:r>
              <a:rPr lang="en-US" sz="4400" dirty="0"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rPr>
              <a:t>Line Following Mode</a:t>
            </a:r>
          </a:p>
          <a:p>
            <a:pPr marL="755094" lvl="1" indent="-377547" algn="l">
              <a:lnSpc>
                <a:spcPts val="4196"/>
              </a:lnSpc>
              <a:buFont typeface="Arial"/>
              <a:buChar char="•"/>
            </a:pPr>
            <a:r>
              <a:rPr lang="en-US" sz="3497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IR sensors detect black line on white surface </a:t>
            </a:r>
          </a:p>
          <a:p>
            <a:pPr marL="755094" lvl="1" indent="-377547" algn="l">
              <a:lnSpc>
                <a:spcPts val="4196"/>
              </a:lnSpc>
              <a:buFont typeface="Arial"/>
              <a:buChar char="•"/>
            </a:pPr>
            <a:r>
              <a:rPr lang="en-US" sz="3497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Arduino</a:t>
            </a:r>
            <a:r>
              <a:rPr lang="en-US" sz="3497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processes sensor outputs </a:t>
            </a:r>
          </a:p>
          <a:p>
            <a:pPr marL="755094" lvl="1" indent="-377547" algn="l">
              <a:lnSpc>
                <a:spcPts val="4196"/>
              </a:lnSpc>
              <a:buFont typeface="Arial"/>
              <a:buChar char="•"/>
            </a:pPr>
            <a:r>
              <a:rPr lang="en-US" sz="3497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Motors adjust direction accordingly</a:t>
            </a:r>
          </a:p>
          <a:p>
            <a:pPr marL="755094" lvl="1" indent="-377547" algn="l">
              <a:lnSpc>
                <a:spcPts val="4196"/>
              </a:lnSpc>
              <a:buFont typeface="Arial"/>
              <a:buChar char="•"/>
            </a:pPr>
            <a:endParaRPr lang="en-US" sz="3497" dirty="0">
              <a:solidFill>
                <a:srgbClr val="FFFFFF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755094" lvl="1" indent="-377547" algn="l">
              <a:lnSpc>
                <a:spcPts val="4196"/>
              </a:lnSpc>
              <a:buFont typeface="Arial"/>
              <a:buChar char="•"/>
            </a:pPr>
            <a:endParaRPr lang="en-US" sz="3497" dirty="0">
              <a:solidFill>
                <a:srgbClr val="FFFFFF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1275" y="-91207"/>
            <a:ext cx="17886725" cy="10709677"/>
          </a:xfrm>
          <a:custGeom>
            <a:avLst/>
            <a:gdLst/>
            <a:ahLst/>
            <a:cxnLst/>
            <a:rect l="l" t="t" r="r" b="b"/>
            <a:pathLst>
              <a:path w="17886725" h="10709677">
                <a:moveTo>
                  <a:pt x="0" y="0"/>
                </a:moveTo>
                <a:lnTo>
                  <a:pt x="17886725" y="0"/>
                </a:lnTo>
                <a:lnTo>
                  <a:pt x="17886725" y="10709677"/>
                </a:lnTo>
                <a:lnTo>
                  <a:pt x="0" y="10709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421184" y="2038110"/>
            <a:ext cx="10776059" cy="4262927"/>
            <a:chOff x="0" y="0"/>
            <a:chExt cx="2838139" cy="11227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38139" cy="1122746"/>
            </a:xfrm>
            <a:custGeom>
              <a:avLst/>
              <a:gdLst/>
              <a:ahLst/>
              <a:cxnLst/>
              <a:rect l="l" t="t" r="r" b="b"/>
              <a:pathLst>
                <a:path w="2838139" h="1122746">
                  <a:moveTo>
                    <a:pt x="36640" y="0"/>
                  </a:moveTo>
                  <a:lnTo>
                    <a:pt x="2801499" y="0"/>
                  </a:lnTo>
                  <a:cubicBezTo>
                    <a:pt x="2821735" y="0"/>
                    <a:pt x="2838139" y="16404"/>
                    <a:pt x="2838139" y="36640"/>
                  </a:cubicBezTo>
                  <a:lnTo>
                    <a:pt x="2838139" y="1086106"/>
                  </a:lnTo>
                  <a:cubicBezTo>
                    <a:pt x="2838139" y="1095824"/>
                    <a:pt x="2834279" y="1105143"/>
                    <a:pt x="2827407" y="1112015"/>
                  </a:cubicBezTo>
                  <a:cubicBezTo>
                    <a:pt x="2820536" y="1118886"/>
                    <a:pt x="2811216" y="1122746"/>
                    <a:pt x="2801499" y="1122746"/>
                  </a:cubicBezTo>
                  <a:lnTo>
                    <a:pt x="36640" y="1122746"/>
                  </a:lnTo>
                  <a:cubicBezTo>
                    <a:pt x="26923" y="1122746"/>
                    <a:pt x="17603" y="1118886"/>
                    <a:pt x="10732" y="1112015"/>
                  </a:cubicBezTo>
                  <a:cubicBezTo>
                    <a:pt x="3860" y="1105143"/>
                    <a:pt x="0" y="1095824"/>
                    <a:pt x="0" y="1086106"/>
                  </a:cubicBezTo>
                  <a:lnTo>
                    <a:pt x="0" y="36640"/>
                  </a:lnTo>
                  <a:cubicBezTo>
                    <a:pt x="0" y="26923"/>
                    <a:pt x="3860" y="17603"/>
                    <a:pt x="10732" y="10732"/>
                  </a:cubicBezTo>
                  <a:cubicBezTo>
                    <a:pt x="17603" y="3860"/>
                    <a:pt x="26923" y="0"/>
                    <a:pt x="36640" y="0"/>
                  </a:cubicBezTo>
                  <a:close/>
                </a:path>
              </a:pathLst>
            </a:custGeom>
            <a:solidFill>
              <a:srgbClr val="89A5C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38139" cy="1160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978023" y="2551183"/>
            <a:ext cx="9662380" cy="3389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1780" lvl="1" indent="-405890" algn="l">
              <a:lnSpc>
                <a:spcPts val="4286"/>
              </a:lnSpc>
              <a:buFont typeface="Arial"/>
              <a:buChar char="•"/>
            </a:pPr>
            <a:r>
              <a:rPr lang="en-US" sz="3759" b="1">
                <a:solidFill>
                  <a:srgbClr val="000000"/>
                </a:solidFill>
                <a:latin typeface="Neo Tech Bold"/>
                <a:ea typeface="Neo Tech Bold"/>
                <a:cs typeface="Neo Tech Bold"/>
                <a:sym typeface="Neo Tech Bold"/>
              </a:rPr>
              <a:t>SENSOR CALIBRATION PERFORMED </a:t>
            </a:r>
          </a:p>
          <a:p>
            <a:pPr marL="811780" lvl="1" indent="-405890" algn="l">
              <a:lnSpc>
                <a:spcPts val="4286"/>
              </a:lnSpc>
              <a:buFont typeface="Arial"/>
              <a:buChar char="•"/>
            </a:pPr>
            <a:r>
              <a:rPr lang="en-US" sz="3759" b="1">
                <a:solidFill>
                  <a:srgbClr val="000000"/>
                </a:solidFill>
                <a:latin typeface="Neo Tech Bold"/>
                <a:ea typeface="Neo Tech Bold"/>
                <a:cs typeface="Neo Tech Bold"/>
                <a:sym typeface="Neo Tech Bold"/>
              </a:rPr>
              <a:t>LINE TRACKING ACCURACY CHECKED </a:t>
            </a:r>
          </a:p>
          <a:p>
            <a:pPr marL="811780" lvl="1" indent="-405890" algn="l">
              <a:lnSpc>
                <a:spcPts val="4286"/>
              </a:lnSpc>
              <a:buFont typeface="Arial"/>
              <a:buChar char="•"/>
            </a:pPr>
            <a:r>
              <a:rPr lang="en-US" sz="3759" b="1">
                <a:solidFill>
                  <a:srgbClr val="000000"/>
                </a:solidFill>
                <a:latin typeface="Neo Tech Bold"/>
                <a:ea typeface="Neo Tech Bold"/>
                <a:cs typeface="Neo Tech Bold"/>
                <a:sym typeface="Neo Tech Bold"/>
              </a:rPr>
              <a:t>OBSTACLE DETECTION RANGE TESTED </a:t>
            </a:r>
          </a:p>
          <a:p>
            <a:pPr marL="811780" lvl="1" indent="-405890" algn="l">
              <a:lnSpc>
                <a:spcPts val="4286"/>
              </a:lnSpc>
              <a:buFont typeface="Arial"/>
              <a:buChar char="•"/>
            </a:pPr>
            <a:r>
              <a:rPr lang="en-US" sz="3759" b="1">
                <a:solidFill>
                  <a:srgbClr val="000000"/>
                </a:solidFill>
                <a:latin typeface="Neo Tech Bold"/>
                <a:ea typeface="Neo Tech Bold"/>
                <a:cs typeface="Neo Tech Bold"/>
                <a:sym typeface="Neo Tech Bold"/>
              </a:rPr>
              <a:t>BLUETOOTH COMMAND RESPONSE VERIFIED </a:t>
            </a:r>
          </a:p>
          <a:p>
            <a:pPr marL="811780" lvl="1" indent="-405890" algn="l">
              <a:lnSpc>
                <a:spcPts val="4286"/>
              </a:lnSpc>
              <a:buFont typeface="Arial"/>
              <a:buChar char="•"/>
            </a:pPr>
            <a:r>
              <a:rPr lang="en-US" sz="3759" b="1">
                <a:solidFill>
                  <a:srgbClr val="000000"/>
                </a:solidFill>
                <a:latin typeface="Neo Tech Bold"/>
                <a:ea typeface="Neo Tech Bold"/>
                <a:cs typeface="Neo Tech Bold"/>
                <a:sym typeface="Neo Tech Bold"/>
              </a:rPr>
              <a:t>MOTOR SPEED AND DIRECTION TESTED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17762" y="0"/>
            <a:ext cx="19205762" cy="10287000"/>
          </a:xfrm>
          <a:custGeom>
            <a:avLst/>
            <a:gdLst/>
            <a:ahLst/>
            <a:cxnLst/>
            <a:rect l="l" t="t" r="r" b="b"/>
            <a:pathLst>
              <a:path w="19205762" h="10287000">
                <a:moveTo>
                  <a:pt x="0" y="0"/>
                </a:moveTo>
                <a:lnTo>
                  <a:pt x="19205762" y="0"/>
                </a:lnTo>
                <a:lnTo>
                  <a:pt x="192057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1000"/>
            </a:blip>
            <a:stretch>
              <a:fillRect t="-15928" b="-1592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636444" y="2310475"/>
            <a:ext cx="6452510" cy="6947825"/>
            <a:chOff x="0" y="0"/>
            <a:chExt cx="1699426" cy="18298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99427" cy="1829880"/>
            </a:xfrm>
            <a:custGeom>
              <a:avLst/>
              <a:gdLst/>
              <a:ahLst/>
              <a:cxnLst/>
              <a:rect l="l" t="t" r="r" b="b"/>
              <a:pathLst>
                <a:path w="1699427" h="1829880">
                  <a:moveTo>
                    <a:pt x="61191" y="0"/>
                  </a:moveTo>
                  <a:lnTo>
                    <a:pt x="1638235" y="0"/>
                  </a:lnTo>
                  <a:cubicBezTo>
                    <a:pt x="1672030" y="0"/>
                    <a:pt x="1699427" y="27396"/>
                    <a:pt x="1699427" y="61191"/>
                  </a:cubicBezTo>
                  <a:lnTo>
                    <a:pt x="1699427" y="1768689"/>
                  </a:lnTo>
                  <a:cubicBezTo>
                    <a:pt x="1699427" y="1784918"/>
                    <a:pt x="1692980" y="1800482"/>
                    <a:pt x="1681504" y="1811957"/>
                  </a:cubicBezTo>
                  <a:cubicBezTo>
                    <a:pt x="1670028" y="1823433"/>
                    <a:pt x="1654464" y="1829880"/>
                    <a:pt x="1638235" y="1829880"/>
                  </a:cubicBezTo>
                  <a:lnTo>
                    <a:pt x="61191" y="1829880"/>
                  </a:lnTo>
                  <a:cubicBezTo>
                    <a:pt x="44962" y="1829880"/>
                    <a:pt x="29398" y="1823433"/>
                    <a:pt x="17923" y="1811957"/>
                  </a:cubicBezTo>
                  <a:cubicBezTo>
                    <a:pt x="6447" y="1800482"/>
                    <a:pt x="0" y="1784918"/>
                    <a:pt x="0" y="1768689"/>
                  </a:cubicBezTo>
                  <a:lnTo>
                    <a:pt x="0" y="61191"/>
                  </a:lnTo>
                  <a:cubicBezTo>
                    <a:pt x="0" y="44962"/>
                    <a:pt x="6447" y="29398"/>
                    <a:pt x="17923" y="17923"/>
                  </a:cubicBezTo>
                  <a:cubicBezTo>
                    <a:pt x="29398" y="6447"/>
                    <a:pt x="44962" y="0"/>
                    <a:pt x="61191" y="0"/>
                  </a:cubicBez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99426" cy="1867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910010" y="99558"/>
            <a:ext cx="2775109" cy="196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647"/>
              </a:lnSpc>
              <a:spcBef>
                <a:spcPct val="0"/>
              </a:spcBef>
            </a:pPr>
            <a:r>
              <a:rPr lang="en-US" sz="1137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Uses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178069" y="2310475"/>
            <a:ext cx="6238990" cy="6947825"/>
            <a:chOff x="0" y="0"/>
            <a:chExt cx="1643191" cy="1829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43191" cy="1829880"/>
            </a:xfrm>
            <a:custGeom>
              <a:avLst/>
              <a:gdLst/>
              <a:ahLst/>
              <a:cxnLst/>
              <a:rect l="l" t="t" r="r" b="b"/>
              <a:pathLst>
                <a:path w="1643191" h="1829880">
                  <a:moveTo>
                    <a:pt x="63286" y="0"/>
                  </a:moveTo>
                  <a:lnTo>
                    <a:pt x="1579905" y="0"/>
                  </a:lnTo>
                  <a:cubicBezTo>
                    <a:pt x="1596690" y="0"/>
                    <a:pt x="1612787" y="6668"/>
                    <a:pt x="1624655" y="18536"/>
                  </a:cubicBezTo>
                  <a:cubicBezTo>
                    <a:pt x="1636523" y="30404"/>
                    <a:pt x="1643191" y="46501"/>
                    <a:pt x="1643191" y="63286"/>
                  </a:cubicBezTo>
                  <a:lnTo>
                    <a:pt x="1643191" y="1766594"/>
                  </a:lnTo>
                  <a:cubicBezTo>
                    <a:pt x="1643191" y="1801546"/>
                    <a:pt x="1614857" y="1829880"/>
                    <a:pt x="1579905" y="1829880"/>
                  </a:cubicBezTo>
                  <a:lnTo>
                    <a:pt x="63286" y="1829880"/>
                  </a:lnTo>
                  <a:cubicBezTo>
                    <a:pt x="46501" y="1829880"/>
                    <a:pt x="30404" y="1823212"/>
                    <a:pt x="18536" y="1811344"/>
                  </a:cubicBezTo>
                  <a:cubicBezTo>
                    <a:pt x="6668" y="1799476"/>
                    <a:pt x="0" y="1783379"/>
                    <a:pt x="0" y="1766594"/>
                  </a:cubicBezTo>
                  <a:lnTo>
                    <a:pt x="0" y="63286"/>
                  </a:lnTo>
                  <a:cubicBezTo>
                    <a:pt x="0" y="46501"/>
                    <a:pt x="6668" y="30404"/>
                    <a:pt x="18536" y="18536"/>
                  </a:cubicBezTo>
                  <a:cubicBezTo>
                    <a:pt x="30404" y="6668"/>
                    <a:pt x="46501" y="0"/>
                    <a:pt x="63286" y="0"/>
                  </a:cubicBez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43191" cy="1867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388808" y="2631612"/>
            <a:ext cx="5553881" cy="635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0"/>
              </a:lnSpc>
            </a:pPr>
            <a:r>
              <a:rPr lang="en-US" sz="3483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Advantages</a:t>
            </a:r>
          </a:p>
          <a:p>
            <a:pPr algn="l">
              <a:lnSpc>
                <a:spcPts val="4180"/>
              </a:lnSpc>
            </a:pPr>
            <a:endParaRPr lang="en-US" sz="3483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752088" lvl="1" indent="-376044" algn="l">
              <a:lnSpc>
                <a:spcPts val="4180"/>
              </a:lnSpc>
              <a:buFont typeface="Arial"/>
              <a:buChar char="•"/>
            </a:pPr>
            <a:r>
              <a:rPr lang="en-US" sz="34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Fully automated navigation </a:t>
            </a:r>
          </a:p>
          <a:p>
            <a:pPr marL="752088" lvl="1" indent="-376044" algn="l">
              <a:lnSpc>
                <a:spcPts val="4180"/>
              </a:lnSpc>
              <a:buFont typeface="Arial"/>
              <a:buChar char="•"/>
            </a:pPr>
            <a:r>
              <a:rPr lang="en-US" sz="34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Wireless manual control available </a:t>
            </a:r>
          </a:p>
          <a:p>
            <a:pPr marL="752088" lvl="1" indent="-376044" algn="l">
              <a:lnSpc>
                <a:spcPts val="4180"/>
              </a:lnSpc>
              <a:buFont typeface="Arial"/>
              <a:buChar char="•"/>
            </a:pPr>
            <a:r>
              <a:rPr lang="en-US" sz="34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Obstacle prevention improves safety </a:t>
            </a:r>
          </a:p>
          <a:p>
            <a:pPr marL="752088" lvl="1" indent="-376044" algn="l">
              <a:lnSpc>
                <a:spcPts val="4180"/>
              </a:lnSpc>
              <a:buFont typeface="Arial"/>
              <a:buChar char="•"/>
            </a:pPr>
            <a:r>
              <a:rPr lang="en-US" sz="34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Low cost and easy implementation </a:t>
            </a:r>
          </a:p>
          <a:p>
            <a:pPr marL="752088" lvl="1" indent="-376044" algn="l">
              <a:lnSpc>
                <a:spcPts val="4180"/>
              </a:lnSpc>
              <a:buFont typeface="Arial"/>
              <a:buChar char="•"/>
            </a:pPr>
            <a:r>
              <a:rPr lang="en-US" sz="348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Useful for industrial automation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91610" y="2622087"/>
            <a:ext cx="5742178" cy="521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Applications</a:t>
            </a:r>
          </a:p>
          <a:p>
            <a:pPr algn="l">
              <a:lnSpc>
                <a:spcPts val="4559"/>
              </a:lnSpc>
            </a:pPr>
            <a:endParaRPr lang="en-US" sz="3799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820409" lvl="1" indent="-410205" algn="l">
              <a:lnSpc>
                <a:spcPts val="455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Warehouse automation </a:t>
            </a:r>
          </a:p>
          <a:p>
            <a:pPr marL="820409" lvl="1" indent="-410205" algn="l">
              <a:lnSpc>
                <a:spcPts val="455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Hospital delivery robots </a:t>
            </a:r>
          </a:p>
          <a:p>
            <a:pPr marL="820409" lvl="1" indent="-410205" algn="l">
              <a:lnSpc>
                <a:spcPts val="455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Smart industrial vehicles </a:t>
            </a:r>
          </a:p>
          <a:p>
            <a:pPr marL="820409" lvl="1" indent="-410205" algn="l">
              <a:lnSpc>
                <a:spcPts val="455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Military surveillance robots </a:t>
            </a:r>
          </a:p>
          <a:p>
            <a:pPr marL="820409" lvl="1" indent="-410205" algn="l">
              <a:lnSpc>
                <a:spcPts val="455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Home automation projects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5619092" y="1105270"/>
            <a:ext cx="13836366" cy="7245224"/>
          </a:xfrm>
          <a:custGeom>
            <a:avLst/>
            <a:gdLst/>
            <a:ahLst/>
            <a:cxnLst/>
            <a:rect l="l" t="t" r="r" b="b"/>
            <a:pathLst>
              <a:path w="13836366" h="7245224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921704" y="1036834"/>
            <a:ext cx="8985352" cy="1374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43"/>
              </a:lnSpc>
            </a:pPr>
            <a:r>
              <a:rPr lang="en-US" sz="8283" b="1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14835" y="3208621"/>
            <a:ext cx="10382403" cy="5748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7"/>
              </a:lnSpc>
            </a:pPr>
            <a:r>
              <a:rPr lang="en-US" sz="4436" b="1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•The project successfully integrates:</a:t>
            </a:r>
          </a:p>
          <a:p>
            <a:pPr algn="l">
              <a:lnSpc>
                <a:spcPts val="5057"/>
              </a:lnSpc>
            </a:pPr>
            <a:r>
              <a:rPr lang="en-US" sz="4436" b="1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•Line Following </a:t>
            </a:r>
          </a:p>
          <a:p>
            <a:pPr algn="l">
              <a:lnSpc>
                <a:spcPts val="5057"/>
              </a:lnSpc>
            </a:pPr>
            <a:r>
              <a:rPr lang="en-US" sz="4436" b="1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•Obstacle Avoidance </a:t>
            </a:r>
          </a:p>
          <a:p>
            <a:pPr algn="l">
              <a:lnSpc>
                <a:spcPts val="5057"/>
              </a:lnSpc>
            </a:pPr>
            <a:r>
              <a:rPr lang="en-US" sz="4436" b="1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•Remote Control System </a:t>
            </a:r>
          </a:p>
          <a:p>
            <a:pPr algn="l">
              <a:lnSpc>
                <a:spcPts val="5057"/>
              </a:lnSpc>
            </a:pPr>
            <a:r>
              <a:rPr lang="en-US" sz="4436" b="1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•into a single smart robotic vehicle.</a:t>
            </a:r>
          </a:p>
          <a:p>
            <a:pPr algn="l">
              <a:lnSpc>
                <a:spcPts val="5057"/>
              </a:lnSpc>
            </a:pPr>
            <a:r>
              <a:rPr lang="en-US" sz="4436" b="1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•It demonstrates practical implementation of embedded systems and automation technologies.</a:t>
            </a:r>
          </a:p>
          <a:p>
            <a:pPr algn="l">
              <a:lnSpc>
                <a:spcPts val="5057"/>
              </a:lnSpc>
            </a:pPr>
            <a:endParaRPr lang="en-US" sz="4436" b="1">
              <a:solidFill>
                <a:srgbClr val="005FC2"/>
              </a:solidFill>
              <a:latin typeface="Koho Bold"/>
              <a:ea typeface="Koho Bold"/>
              <a:cs typeface="Koho Bold"/>
              <a:sym typeface="Koho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41918" y="1994942"/>
            <a:ext cx="12814272" cy="7541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481" lvl="1" indent="-348740" algn="l">
              <a:lnSpc>
                <a:spcPts val="3682"/>
              </a:lnSpc>
              <a:buFont typeface="Arial"/>
              <a:buChar char="•"/>
            </a:pPr>
            <a:r>
              <a:rPr lang="en-US" sz="3230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[1] Arduino, “Arduino UNO Rev3,” Arduino Official Documentation, available: Arduino.cc.</a:t>
            </a:r>
          </a:p>
          <a:p>
            <a:pPr marL="697481" lvl="1" indent="-348740" algn="l">
              <a:lnSpc>
                <a:spcPts val="3682"/>
              </a:lnSpc>
              <a:buFont typeface="Arial"/>
              <a:buChar char="•"/>
            </a:pPr>
            <a:r>
              <a:rPr lang="en-US" sz="3230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[2] HC-05 Bluetooth Module, “HC-05 Bluetooth to Serial Port Module Datasheet,” Wireless Communication Module Technical Guide.</a:t>
            </a:r>
          </a:p>
          <a:p>
            <a:pPr marL="697481" lvl="1" indent="-348740" algn="l">
              <a:lnSpc>
                <a:spcPts val="3682"/>
              </a:lnSpc>
              <a:buFont typeface="Arial"/>
              <a:buChar char="•"/>
            </a:pPr>
            <a:r>
              <a:rPr lang="en-US" sz="3230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[3] STMicroelectronics, “L298N Dual H-Bridge Motor Driver Datasheet,” Motor Driver IC Technical Documentation.</a:t>
            </a:r>
          </a:p>
          <a:p>
            <a:pPr marL="697481" lvl="1" indent="-348740" algn="l">
              <a:lnSpc>
                <a:spcPts val="3682"/>
              </a:lnSpc>
              <a:buFont typeface="Arial"/>
              <a:buChar char="•"/>
            </a:pPr>
            <a:r>
              <a:rPr lang="en-US" sz="3230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[4] HC-SR04, “Ultrasonic Distance Sensor Module Datasheet,” Obstacle Detection Sensor Technical Manual.</a:t>
            </a:r>
          </a:p>
          <a:p>
            <a:pPr marL="697481" lvl="1" indent="-348740" algn="l">
              <a:lnSpc>
                <a:spcPts val="3682"/>
              </a:lnSpc>
              <a:buFont typeface="Arial"/>
              <a:buChar char="•"/>
            </a:pPr>
            <a:r>
              <a:rPr lang="en-US" sz="3230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[5] IR Sensor Module, “Infrared Line Following Sensor Module Datasheet,” Line Tracking Sensor Guide.</a:t>
            </a:r>
          </a:p>
          <a:p>
            <a:pPr marL="697481" lvl="1" indent="-348740" algn="l">
              <a:lnSpc>
                <a:spcPts val="3682"/>
              </a:lnSpc>
              <a:buFont typeface="Arial"/>
              <a:buChar char="•"/>
            </a:pPr>
            <a:r>
              <a:rPr lang="en-US" sz="3230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[6] TowerPro, “SG90 Micro Servo Motor Datasheet,” Servo Motor Technical Specifications.</a:t>
            </a:r>
          </a:p>
          <a:p>
            <a:pPr marL="697481" lvl="1" indent="-348740" algn="l">
              <a:lnSpc>
                <a:spcPts val="3682"/>
              </a:lnSpc>
              <a:buFont typeface="Arial"/>
              <a:buChar char="•"/>
            </a:pPr>
            <a:r>
              <a:rPr lang="en-US" sz="3230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[7] BO Motor, “DC Gear Motor Technical Datasheet,” Smart Car Wheel Drive Motor Documentation.</a:t>
            </a:r>
          </a:p>
          <a:p>
            <a:pPr algn="l">
              <a:lnSpc>
                <a:spcPts val="4252"/>
              </a:lnSpc>
            </a:pPr>
            <a:endParaRPr lang="en-US" sz="3230">
              <a:solidFill>
                <a:srgbClr val="005FC2"/>
              </a:solidFill>
              <a:latin typeface="Koho"/>
              <a:ea typeface="Koho"/>
              <a:cs typeface="Koho"/>
              <a:sym typeface="Koho"/>
            </a:endParaRPr>
          </a:p>
        </p:txBody>
      </p:sp>
      <p:sp>
        <p:nvSpPr>
          <p:cNvPr id="3" name="Freeform 3"/>
          <p:cNvSpPr/>
          <p:nvPr/>
        </p:nvSpPr>
        <p:spPr>
          <a:xfrm rot="-10149532" flipH="1">
            <a:off x="-3580585" y="4143179"/>
            <a:ext cx="7161170" cy="10230243"/>
          </a:xfrm>
          <a:custGeom>
            <a:avLst/>
            <a:gdLst/>
            <a:ahLst/>
            <a:cxnLst/>
            <a:rect l="l" t="t" r="r" b="b"/>
            <a:pathLst>
              <a:path w="7161170" h="10230243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29211" flipH="1">
            <a:off x="14707415" y="-4280324"/>
            <a:ext cx="7161170" cy="10230243"/>
          </a:xfrm>
          <a:custGeom>
            <a:avLst/>
            <a:gdLst/>
            <a:ahLst/>
            <a:cxnLst/>
            <a:rect l="l" t="t" r="r" b="b"/>
            <a:pathLst>
              <a:path w="7161170" h="10230243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-333692" y="730022"/>
            <a:ext cx="10894849" cy="1245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49"/>
              </a:lnSpc>
            </a:pPr>
            <a:r>
              <a:rPr lang="en-US" sz="7500" b="1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398</Words>
  <Application>Microsoft Office PowerPoint</Application>
  <PresentationFormat>Custom</PresentationFormat>
  <Paragraphs>75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Koho</vt:lpstr>
      <vt:lpstr>Calibri (MS) Bold</vt:lpstr>
      <vt:lpstr>Arial Bold</vt:lpstr>
      <vt:lpstr>Koho Bold</vt:lpstr>
      <vt:lpstr>Calibri</vt:lpstr>
      <vt:lpstr>Calibri (MS)</vt:lpstr>
      <vt:lpstr>Neo Tech Bold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Miniproject Presentation.pptx</dc:title>
  <dc:creator>Sneha sarwade</dc:creator>
  <cp:lastModifiedBy>Adarsh Salunkhe</cp:lastModifiedBy>
  <cp:revision>9</cp:revision>
  <dcterms:created xsi:type="dcterms:W3CDTF">2006-08-16T00:00:00Z</dcterms:created>
  <dcterms:modified xsi:type="dcterms:W3CDTF">2026-09-29T18:36:15Z</dcterms:modified>
  <dc:identifier>DAHHxjV5rjI</dc:identifier>
</cp:coreProperties>
</file>